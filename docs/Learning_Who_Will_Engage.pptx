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WHO WILL ENGAGE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Recommender for Multi-Agent Deliberation Maps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recommender learn simulated experts well enough that they stop skipping its suggestions?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5806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SQLite + Gemini backend  ·  Next.js frontend  ·  6–8 LLM specialist personas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flipH="1" flipV="1">
            <a:off x="8595360" y="1755648"/>
            <a:ext cx="594360" cy="57607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89720" y="1755648"/>
            <a:ext cx="1783080" cy="57607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7863840" y="2715768"/>
            <a:ext cx="731520" cy="57607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2715768"/>
            <a:ext cx="640080" cy="57607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10789920" y="2715768"/>
            <a:ext cx="182880" cy="57607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0" y="3675888"/>
            <a:ext cx="182880" cy="576072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13716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1371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01000" y="23317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475569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378440" y="23317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475569"/>
          </a:solidFill>
          <a:ln/>
        </p:spPr>
      </p:sp>
      <p:sp>
        <p:nvSpPr>
          <p:cNvPr id="17" name="Text 15"/>
          <p:cNvSpPr/>
          <p:nvPr/>
        </p:nvSpPr>
        <p:spPr>
          <a:xfrm>
            <a:off x="10378440" y="2331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0" y="329184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3291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0" y="329184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3291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241280" y="329184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0" y="3291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69680" y="4251960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0" y="4251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35240" y="448056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6720" y="477316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10652760" y="4434840"/>
            <a:ext cx="201168" cy="201168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064240" y="471830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4983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rate, read through a sliding window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rate</a:t>
            </a:r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skipped ÷ decided recommendations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per strategy, per tick window · lower is better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simulation tick, every agent receives one (post, action) recommendation and either engages or skips.</a:t>
            </a:r>
            <a:endParaRPr lang="en-US" sz="14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Per-tick rates are noisy (6–12 decisions) — single buckets jump ±15 points.</a:t>
            </a:r>
            <a:endParaRPr lang="en-US" sz="14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window: overlapping spans 1–10, 2–11, 3–12 … smooth the curve so the trend is readable.</a:t>
            </a:r>
            <a:endParaRPr lang="en-US" sz="14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overlapping windows are autocorrelated — good for trend-reading, weaker for significance claims.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10-tick windows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12280" y="2514600"/>
            <a:ext cx="43891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2459736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587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90104" y="2459736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504" y="2587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67928" y="2459736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587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445752" y="2459736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17152" y="2587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323576" y="2459736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94976" y="2587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201400" y="2459736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0" y="2587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23865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0062" y="3063240"/>
            <a:ext cx="877824" cy="365760"/>
          </a:xfrm>
          <a:prstGeom prst="roundRect">
            <a:avLst>
              <a:gd name="adj" fmla="val 15000"/>
            </a:avLst>
          </a:prstGeom>
          <a:solidFill>
            <a:srgbClr val="00D4FF">
              <a:alpha val="4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15046" y="3081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1–10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87845" y="3630168"/>
            <a:ext cx="877824" cy="365760"/>
          </a:xfrm>
          <a:prstGeom prst="roundRect">
            <a:avLst>
              <a:gd name="adj" fmla="val 15000"/>
            </a:avLst>
          </a:prstGeom>
          <a:solidFill>
            <a:srgbClr val="818CF8">
              <a:alpha val="4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2829" y="364845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2–11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075627" y="4197096"/>
            <a:ext cx="877824" cy="365760"/>
          </a:xfrm>
          <a:prstGeom prst="roundRect">
            <a:avLst>
              <a:gd name="adj" fmla="val 15000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90611" y="421538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3–12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63410" y="4764024"/>
            <a:ext cx="877824" cy="365760"/>
          </a:xfrm>
          <a:prstGeom prst="roundRect">
            <a:avLst>
              <a:gd name="adj" fmla="val 15000"/>
            </a:avLst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78394" y="47823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4–13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20840" y="5623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window → one point on the curve, stepped by 1–2 ticks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learning, recommendations rot as the map fills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25880" y="5577840"/>
            <a:ext cx="63093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4681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25880" y="4629150"/>
            <a:ext cx="630936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1942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25880" y="3680460"/>
            <a:ext cx="630936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707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325880" y="2731770"/>
            <a:ext cx="630936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2204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25880" y="1783080"/>
            <a:ext cx="630936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6733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5632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91740" y="5632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69080" y="5632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46420" y="5632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23760" y="563270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24–29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82880" y="31318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rate (%)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25880" y="587044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window (30-tick head-to-head run)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flipV="1">
            <a:off x="1325880" y="3376879"/>
            <a:ext cx="1577340" cy="1176376"/>
          </a:xfrm>
          <a:prstGeom prst="line">
            <a:avLst/>
          </a:prstGeom>
          <a:noFill/>
          <a:ln w="25400">
            <a:solidFill>
              <a:srgbClr val="818CF8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 flipV="1">
            <a:off x="2903220" y="3035351"/>
            <a:ext cx="1577340" cy="341528"/>
          </a:xfrm>
          <a:prstGeom prst="line">
            <a:avLst/>
          </a:prstGeom>
          <a:noFill/>
          <a:ln w="25400">
            <a:solidFill>
              <a:srgbClr val="818CF8"/>
            </a:solidFill>
            <a:prstDash val="sysDot"/>
          </a:ln>
        </p:spPr>
      </p:sp>
      <p:sp>
        <p:nvSpPr>
          <p:cNvPr id="24" name="Shape 22"/>
          <p:cNvSpPr/>
          <p:nvPr/>
        </p:nvSpPr>
        <p:spPr>
          <a:xfrm>
            <a:off x="4480560" y="3035351"/>
            <a:ext cx="1577340" cy="341528"/>
          </a:xfrm>
          <a:prstGeom prst="line">
            <a:avLst/>
          </a:prstGeom>
          <a:noFill/>
          <a:ln w="25400">
            <a:solidFill>
              <a:srgbClr val="818CF8"/>
            </a:solidFill>
            <a:prstDash val="sysDot"/>
          </a:ln>
        </p:spPr>
      </p:sp>
      <p:sp>
        <p:nvSpPr>
          <p:cNvPr id="25" name="Shape 23"/>
          <p:cNvSpPr/>
          <p:nvPr/>
        </p:nvSpPr>
        <p:spPr>
          <a:xfrm flipV="1">
            <a:off x="6057900" y="3035351"/>
            <a:ext cx="1577340" cy="341528"/>
          </a:xfrm>
          <a:prstGeom prst="line">
            <a:avLst/>
          </a:prstGeom>
          <a:noFill/>
          <a:ln w="25400">
            <a:solidFill>
              <a:srgbClr val="818CF8"/>
            </a:solidFill>
            <a:prstDash val="sysDot"/>
          </a:ln>
        </p:spPr>
      </p:sp>
      <p:sp>
        <p:nvSpPr>
          <p:cNvPr id="26" name="Shape 24"/>
          <p:cNvSpPr/>
          <p:nvPr/>
        </p:nvSpPr>
        <p:spPr>
          <a:xfrm>
            <a:off x="1280160" y="4507535"/>
            <a:ext cx="91440" cy="914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7" name="Shape 25"/>
          <p:cNvSpPr/>
          <p:nvPr/>
        </p:nvSpPr>
        <p:spPr>
          <a:xfrm>
            <a:off x="2857500" y="3331159"/>
            <a:ext cx="91440" cy="914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8" name="Shape 26"/>
          <p:cNvSpPr/>
          <p:nvPr/>
        </p:nvSpPr>
        <p:spPr>
          <a:xfrm>
            <a:off x="4434840" y="2989631"/>
            <a:ext cx="91440" cy="914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012180" y="3331159"/>
            <a:ext cx="91440" cy="914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0" y="2989631"/>
            <a:ext cx="91440" cy="9144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1" name="Shape 29"/>
          <p:cNvSpPr/>
          <p:nvPr/>
        </p:nvSpPr>
        <p:spPr>
          <a:xfrm flipV="1">
            <a:off x="1325880" y="4325569"/>
            <a:ext cx="1577340" cy="227686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V="1">
            <a:off x="2903220" y="3376879"/>
            <a:ext cx="1577340" cy="94869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4480560" y="3376879"/>
            <a:ext cx="1577340" cy="303581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 flipV="1">
            <a:off x="6057900" y="1783080"/>
            <a:ext cx="1577340" cy="189738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280160" y="4507535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Shape 34"/>
          <p:cNvSpPr/>
          <p:nvPr/>
        </p:nvSpPr>
        <p:spPr>
          <a:xfrm>
            <a:off x="2857500" y="4279849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Shape 35"/>
          <p:cNvSpPr/>
          <p:nvPr/>
        </p:nvSpPr>
        <p:spPr>
          <a:xfrm>
            <a:off x="4434840" y="3331159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Shape 36"/>
          <p:cNvSpPr/>
          <p:nvPr/>
        </p:nvSpPr>
        <p:spPr>
          <a:xfrm>
            <a:off x="6012180" y="363474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Shape 37"/>
          <p:cNvSpPr/>
          <p:nvPr/>
        </p:nvSpPr>
        <p:spPr>
          <a:xfrm>
            <a:off x="7589520" y="1737360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1325880" y="3680460"/>
            <a:ext cx="1577340" cy="645109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2903220" y="3376879"/>
            <a:ext cx="1577340" cy="948690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80560" y="3376879"/>
            <a:ext cx="1577340" cy="303581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57900" y="3680460"/>
            <a:ext cx="1577340" cy="0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71016" y="3625596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5" name="Shape 43"/>
          <p:cNvSpPr/>
          <p:nvPr/>
        </p:nvSpPr>
        <p:spPr>
          <a:xfrm>
            <a:off x="2848356" y="4270705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6" name="Shape 44"/>
          <p:cNvSpPr/>
          <p:nvPr/>
        </p:nvSpPr>
        <p:spPr>
          <a:xfrm>
            <a:off x="4425696" y="3322015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003036" y="3625596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8" name="Shape 46"/>
          <p:cNvSpPr/>
          <p:nvPr/>
        </p:nvSpPr>
        <p:spPr>
          <a:xfrm>
            <a:off x="7580376" y="3625596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49" name="Shape 47"/>
          <p:cNvSpPr/>
          <p:nvPr/>
        </p:nvSpPr>
        <p:spPr>
          <a:xfrm>
            <a:off x="1325880" y="6382512"/>
            <a:ext cx="384048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01368" y="6263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multi_agent (learning)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977640" y="6382512"/>
            <a:ext cx="384048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4453128" y="6263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(gap-filling)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37960" y="6382512"/>
            <a:ext cx="384048" cy="0"/>
          </a:xfrm>
          <a:prstGeom prst="line">
            <a:avLst/>
          </a:prstGeom>
          <a:noFill/>
          <a:ln w="31750">
            <a:solidFill>
              <a:srgbClr val="818CF8"/>
            </a:solidFill>
            <a:prstDash val="sysDot"/>
          </a:ln>
        </p:spPr>
      </p:sp>
      <p:sp>
        <p:nvSpPr>
          <p:cNvPr id="54" name="Text 52"/>
          <p:cNvSpPr/>
          <p:nvPr/>
        </p:nvSpPr>
        <p:spPr>
          <a:xfrm>
            <a:off x="7013448" y="6263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183880" y="173736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5820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Head-to-head, same tree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458200" y="23317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strategies rotate across agents in one 30-tick run — identical conditions.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458200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59" name="Text 57"/>
          <p:cNvSpPr/>
          <p:nvPr/>
        </p:nvSpPr>
        <p:spPr>
          <a:xfrm>
            <a:off x="8458200" y="3840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priority's final-window skip — every easy gap is gone and it keeps pushing saturated branches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458200" y="4754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3000" dirty="0"/>
          </a:p>
        </p:txBody>
      </p:sp>
      <p:sp>
        <p:nvSpPr>
          <p:cNvPr id="61" name="Text 59"/>
          <p:cNvSpPr/>
          <p:nvPr/>
        </p:nvSpPr>
        <p:spPr>
          <a:xfrm>
            <a:off x="8458200" y="53492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recommender holds steady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agents skip? We asked every one of them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skip triggers a follow-up prompt: the agent must explain its refusal. Mining those reasons: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21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~½  topic-fit mismatch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skipped adding a cause… my expertise lies more in behavioral psychology.”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ThePsychologist, tick 21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214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~½  already covered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existing explanation sufficiently covers this.”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TheEngineer, tick 22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109960" cy="1828800"/>
          </a:xfrm>
          <a:prstGeom prst="roundRect">
            <a:avLst>
              <a:gd name="adj" fmla="val 4000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720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type does NOT predict skips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51206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action's skip rate sat in the same 40–55% band (add_barrier 55%, add_goal 42%, add_solution 40%). The signal is WHICH POST — its topic relative to the agent — not which action.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0" y="4800600"/>
            <a:ext cx="2834640" cy="777240"/>
          </a:xfrm>
          <a:prstGeom prst="rect">
            <a:avLst/>
          </a:prstGeom>
          <a:solidFill>
            <a:srgbClr val="EF4444">
              <a:alpha val="22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48006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40–55% skip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5669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· goal · solution · cause …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finding redirected the whole design.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 V1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fit: fast early gains, then a hard plateau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every post; keep per-agent centroids of engaged vs skipped content.</a:t>
            </a:r>
            <a:endParaRPr lang="en-US" sz="140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candidates by fit  +  boost the agent's own branches  +  damp saturated targets  +  penalize re-showing skipped posts.</a:t>
            </a:r>
            <a:endParaRPr lang="en-US" sz="140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Early-run skip fell ~50% → ~30% — the loop learns in ~5 ticks.</a:t>
            </a:r>
            <a:endParaRPr lang="en-US" sz="1400" dirty="0"/>
          </a:p>
          <a:p>
            <a:pPr marL="152400" indent="-1524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stalls: full 50-tick run flat at ~42% (slope ≈ +0.06 pts/tick ≈ zero).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2120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saturated in ~5 ticks, then stalled — every further run bought no improvement.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5486400"/>
            <a:ext cx="47548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53766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720840" y="4572000"/>
            <a:ext cx="475488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4622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20840" y="3657600"/>
            <a:ext cx="475488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5478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20840" y="2743200"/>
            <a:ext cx="475488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6334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20840" y="1828800"/>
            <a:ext cx="475488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7190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09360" y="55412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0" y="55412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0" y="55412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875520" y="55412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64240" y="55412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 rot="16200000">
            <a:off x="5577840" y="3108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rate (%)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20840" y="57790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window · LLM agents, session c32d22c9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flipV="1">
            <a:off x="6720840" y="3840480"/>
            <a:ext cx="1188720" cy="131674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09560" y="3840480"/>
            <a:ext cx="1188720" cy="120701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98280" y="3961181"/>
            <a:ext cx="1188720" cy="62179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0287000" y="3778301"/>
            <a:ext cx="1188720" cy="245059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65976" y="3917290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854696" y="3785616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043416" y="3906317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32136" y="3968496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20856" y="3723437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366125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43800" y="35295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732520" y="3650285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921240" y="37124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109960" y="3467405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0" y="6172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plateau: ~42% no matter how much data accrues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ceiling: a predictor is only as good as agents are consistent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LLM judgment gives the same-ish post different decisions on different ticks — an irreducible noise floor no recommender can beat.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852160" cy="402336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hidden ground-truth persona models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agent, once per session: ~10 LIKED and ~10 DISLIKED subtopics from persona + mission, embedded into centroids.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decision becomes a deterministic geometric rule — zero LLM in the decision.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on engage is still LLM-written, so post embeddings stay realistic.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win: consistent behavior + a measurable ground truth for inference.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51663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1663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 ⟺  max cos(post, liked)  ≥  max cos(post, disliked)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720840" y="2148840"/>
            <a:ext cx="4937760" cy="4023360"/>
          </a:xfrm>
          <a:prstGeom prst="roundRect">
            <a:avLst>
              <a:gd name="adj" fmla="val 1818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space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31089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28803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338328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7818120" y="361188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8595360" y="30175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0" y="484632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5600" y="461772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35640" y="512064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87000" y="534924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9784080" y="5212080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liked centroids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0" y="5623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disliked centroids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06840" y="4160520"/>
            <a:ext cx="237744" cy="23774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4480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flipH="1">
            <a:off x="8229600" y="3429000"/>
            <a:ext cx="822960" cy="777240"/>
          </a:xfrm>
          <a:prstGeom prst="line">
            <a:avLst/>
          </a:prstGeom>
          <a:noFill/>
          <a:ln w="22225">
            <a:solidFill>
              <a:srgbClr val="10B981"/>
            </a:solidFill>
            <a:prstDash val="dash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244584" y="4370832"/>
            <a:ext cx="868680" cy="457200"/>
          </a:xfrm>
          <a:prstGeom prst="line">
            <a:avLst/>
          </a:prstGeom>
          <a:noFill/>
          <a:ln w="22225">
            <a:solidFill>
              <a:srgbClr val="EF4444"/>
            </a:solidFill>
            <a:prstDash val="dash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040880" y="5806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liked → engage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learned from behavior replaces the persona table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10 LLM-guessed topic headers, fixed at t=0, cosine matching. After: a model that re-learns itself from what the agent actually does.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423160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" y="29260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 log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94944" y="3447288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(post embedding 3072-d, engage/skip) — ALL events kept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3291840"/>
            <a:ext cx="128016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98064" y="224028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2423160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2962656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44368" y="29260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944368" y="3447288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3072 → 50 dims for fast training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01184" y="3291840"/>
            <a:ext cx="128016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47488" y="224028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2423160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93792" y="29260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93792" y="3447288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agent · entropy criterion · min_samples_leaf = 3 vs over-chopping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50608" y="3291840"/>
            <a:ext cx="128016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96912" y="224028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61504" y="2423160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7461504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43216" y="29260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every 5 ticks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43216" y="3447288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— history redistributes automatically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00032" y="3291840"/>
            <a:ext cx="128016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46336" y="224028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10928" y="2423160"/>
            <a:ext cx="384048" cy="38404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9710928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92640" y="292608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LLM-labeled leaves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692640" y="3447288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= discovered subtopics, named from their member posts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70916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1371600" y="5257800"/>
            <a:ext cx="502920" cy="5029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65960" y="5257800"/>
            <a:ext cx="548640" cy="5029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37360" y="4983480"/>
            <a:ext cx="329184" cy="329184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9" name="Shape 37"/>
          <p:cNvSpPr/>
          <p:nvPr/>
        </p:nvSpPr>
        <p:spPr>
          <a:xfrm>
            <a:off x="1188720" y="5669280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2331720" y="5669280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6062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011680" y="6062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017520" y="50292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object, three jobs: 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is the user model, the recommender's scorer, and a measurable artifact — its accuracy against ground truth is a number, not a vibe.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654296" y="150876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37176" y="16184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37176" y="19659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candidates by the tree's predicted engage-probability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41080" y="301752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23960" y="3127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23960" y="3474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via its ground-truth persona model (deterministic)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452628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463600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CLICKSTREAM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37176" y="49834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appended: (post embedding, engage/skip, tick)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01752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27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RETRAIN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4747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ticks, from all stored events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26096" y="2331720"/>
            <a:ext cx="1426464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36676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flipH="1" flipV="1">
            <a:off x="7671816" y="4434840"/>
            <a:ext cx="1746504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503920" y="5029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/ skips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2743200" y="4434840"/>
            <a:ext cx="1819656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017520" y="5029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V="1">
            <a:off x="2194560" y="2331720"/>
            <a:ext cx="2414016" cy="5943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14884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next picks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69080" y="3154680"/>
            <a:ext cx="4069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recommendations → richer clickstream → sharper tree → better recommendations.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fallbacks while data is thin:  tree  →  cosine fit  →  action-rate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rate finally decreases — 40% → 17% in one run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25880" y="5715000"/>
            <a:ext cx="6903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60527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25880" y="4928616"/>
            <a:ext cx="6903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188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25880" y="4142232"/>
            <a:ext cx="6903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0325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325880" y="3355848"/>
            <a:ext cx="6903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461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25880" y="2569464"/>
            <a:ext cx="6903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4597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25880" y="1783080"/>
            <a:ext cx="6903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6733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8971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6502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4033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1564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9095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6626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4157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1688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9219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6750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4281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18120" y="57698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 rot="16200000">
            <a:off x="18288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rate (%)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25880" y="6007608"/>
            <a:ext cx="6903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start tick (10-tick sliding window, step 2)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325880" y="2412187"/>
            <a:ext cx="6903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 flipV="1">
            <a:off x="1325880" y="2569464"/>
            <a:ext cx="287655" cy="23592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13535" y="2569464"/>
            <a:ext cx="287655" cy="0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01190" y="2569464"/>
            <a:ext cx="287655" cy="0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88845" y="2569464"/>
            <a:ext cx="287655" cy="393192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6500" y="2962656"/>
            <a:ext cx="287655" cy="259507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64155" y="3222163"/>
            <a:ext cx="287655" cy="0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51810" y="3222163"/>
            <a:ext cx="287655" cy="133685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39465" y="3355848"/>
            <a:ext cx="287655" cy="0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3627120" y="3222163"/>
            <a:ext cx="287655" cy="133685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14775" y="3222163"/>
            <a:ext cx="287655" cy="133685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02430" y="3355848"/>
            <a:ext cx="287655" cy="0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90085" y="3355848"/>
            <a:ext cx="287655" cy="0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77740" y="3355848"/>
            <a:ext cx="287655" cy="259507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65395" y="3615355"/>
            <a:ext cx="287655" cy="267371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53050" y="3882725"/>
            <a:ext cx="287655" cy="125821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40705" y="4008547"/>
            <a:ext cx="287655" cy="267371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28360" y="4275917"/>
            <a:ext cx="287655" cy="0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6216015" y="4142232"/>
            <a:ext cx="287655" cy="133685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6503670" y="4008547"/>
            <a:ext cx="287655" cy="133685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91325" y="4008547"/>
            <a:ext cx="287655" cy="0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7078980" y="3914181"/>
            <a:ext cx="287655" cy="94366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66635" y="3914181"/>
            <a:ext cx="287655" cy="55047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54290" y="3969228"/>
            <a:ext cx="287655" cy="110094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41945" y="4079321"/>
            <a:ext cx="287655" cy="322417"/>
          </a:xfrm>
          <a:prstGeom prst="line">
            <a:avLst/>
          </a:prstGeom>
          <a:noFill/>
          <a:ln w="34925">
            <a:solidFill>
              <a:srgbClr val="00D4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284732" y="2551908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8" name="Shape 56"/>
          <p:cNvSpPr/>
          <p:nvPr/>
        </p:nvSpPr>
        <p:spPr>
          <a:xfrm>
            <a:off x="1572387" y="2528316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9" name="Shape 57"/>
          <p:cNvSpPr/>
          <p:nvPr/>
        </p:nvSpPr>
        <p:spPr>
          <a:xfrm>
            <a:off x="1860042" y="2528316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0" name="Shape 58"/>
          <p:cNvSpPr/>
          <p:nvPr/>
        </p:nvSpPr>
        <p:spPr>
          <a:xfrm>
            <a:off x="2147697" y="2528316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1" name="Shape 59"/>
          <p:cNvSpPr/>
          <p:nvPr/>
        </p:nvSpPr>
        <p:spPr>
          <a:xfrm>
            <a:off x="2435352" y="2921508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2" name="Shape 60"/>
          <p:cNvSpPr/>
          <p:nvPr/>
        </p:nvSpPr>
        <p:spPr>
          <a:xfrm>
            <a:off x="2723007" y="3181015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3" name="Shape 61"/>
          <p:cNvSpPr/>
          <p:nvPr/>
        </p:nvSpPr>
        <p:spPr>
          <a:xfrm>
            <a:off x="3010662" y="3181015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4" name="Shape 62"/>
          <p:cNvSpPr/>
          <p:nvPr/>
        </p:nvSpPr>
        <p:spPr>
          <a:xfrm>
            <a:off x="3298317" y="3314700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5" name="Shape 63"/>
          <p:cNvSpPr/>
          <p:nvPr/>
        </p:nvSpPr>
        <p:spPr>
          <a:xfrm>
            <a:off x="3585972" y="3314700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6" name="Shape 64"/>
          <p:cNvSpPr/>
          <p:nvPr/>
        </p:nvSpPr>
        <p:spPr>
          <a:xfrm>
            <a:off x="3873627" y="3181015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7" name="Shape 65"/>
          <p:cNvSpPr/>
          <p:nvPr/>
        </p:nvSpPr>
        <p:spPr>
          <a:xfrm>
            <a:off x="4161282" y="3314700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8" name="Shape 66"/>
          <p:cNvSpPr/>
          <p:nvPr/>
        </p:nvSpPr>
        <p:spPr>
          <a:xfrm>
            <a:off x="4448937" y="3314700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9" name="Shape 67"/>
          <p:cNvSpPr/>
          <p:nvPr/>
        </p:nvSpPr>
        <p:spPr>
          <a:xfrm>
            <a:off x="4736592" y="3314700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0" name="Shape 68"/>
          <p:cNvSpPr/>
          <p:nvPr/>
        </p:nvSpPr>
        <p:spPr>
          <a:xfrm>
            <a:off x="5024247" y="3574207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1" name="Shape 69"/>
          <p:cNvSpPr/>
          <p:nvPr/>
        </p:nvSpPr>
        <p:spPr>
          <a:xfrm>
            <a:off x="5311902" y="3841577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2" name="Shape 70"/>
          <p:cNvSpPr/>
          <p:nvPr/>
        </p:nvSpPr>
        <p:spPr>
          <a:xfrm>
            <a:off x="5599557" y="3967399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3" name="Shape 71"/>
          <p:cNvSpPr/>
          <p:nvPr/>
        </p:nvSpPr>
        <p:spPr>
          <a:xfrm>
            <a:off x="5887212" y="4234769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4" name="Shape 72"/>
          <p:cNvSpPr/>
          <p:nvPr/>
        </p:nvSpPr>
        <p:spPr>
          <a:xfrm>
            <a:off x="6174867" y="4234769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5" name="Shape 73"/>
          <p:cNvSpPr/>
          <p:nvPr/>
        </p:nvSpPr>
        <p:spPr>
          <a:xfrm>
            <a:off x="6462522" y="4101084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6" name="Shape 74"/>
          <p:cNvSpPr/>
          <p:nvPr/>
        </p:nvSpPr>
        <p:spPr>
          <a:xfrm>
            <a:off x="6750177" y="3967399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7" name="Shape 75"/>
          <p:cNvSpPr/>
          <p:nvPr/>
        </p:nvSpPr>
        <p:spPr>
          <a:xfrm>
            <a:off x="7037832" y="3967399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8" name="Shape 76"/>
          <p:cNvSpPr/>
          <p:nvPr/>
        </p:nvSpPr>
        <p:spPr>
          <a:xfrm>
            <a:off x="7325487" y="3873033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9" name="Shape 77"/>
          <p:cNvSpPr/>
          <p:nvPr/>
        </p:nvSpPr>
        <p:spPr>
          <a:xfrm>
            <a:off x="7613142" y="3928080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0" name="Shape 78"/>
          <p:cNvSpPr/>
          <p:nvPr/>
        </p:nvSpPr>
        <p:spPr>
          <a:xfrm>
            <a:off x="7900797" y="4038173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1" name="Shape 79"/>
          <p:cNvSpPr/>
          <p:nvPr/>
        </p:nvSpPr>
        <p:spPr>
          <a:xfrm>
            <a:off x="8188452" y="4360591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2" name="Shape 80"/>
          <p:cNvSpPr/>
          <p:nvPr/>
        </p:nvSpPr>
        <p:spPr>
          <a:xfrm>
            <a:off x="1325880" y="6473952"/>
            <a:ext cx="384048" cy="0"/>
          </a:xfrm>
          <a:prstGeom prst="line">
            <a:avLst/>
          </a:prstGeom>
          <a:noFill/>
          <a:ln w="31750">
            <a:solidFill>
              <a:srgbClr val="00D4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801368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agents + decision tree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4709160" y="6473952"/>
            <a:ext cx="384048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dash"/>
          </a:ln>
        </p:spPr>
      </p:sp>
      <p:sp>
        <p:nvSpPr>
          <p:cNvPr id="85" name="Text 83"/>
          <p:cNvSpPr/>
          <p:nvPr/>
        </p:nvSpPr>
        <p:spPr>
          <a:xfrm>
            <a:off x="5184648" y="6355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 (prior run, plateau ~42%)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732520" y="1737360"/>
            <a:ext cx="2926080" cy="4572000"/>
          </a:xfrm>
          <a:prstGeom prst="roundRect">
            <a:avLst>
              <a:gd name="adj" fmla="val 2500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96112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→ 17%</a:t>
            </a:r>
            <a:endParaRPr lang="en-US" sz="2800" dirty="0"/>
          </a:p>
        </p:txBody>
      </p:sp>
      <p:sp>
        <p:nvSpPr>
          <p:cNvPr id="88" name="Text 86"/>
          <p:cNvSpPr/>
          <p:nvPr/>
        </p:nvSpPr>
        <p:spPr>
          <a:xfrm>
            <a:off x="896112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near-monotonic decline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8961120" y="3017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−0.47</a:t>
            </a:r>
            <a:endParaRPr lang="en-US" sz="2600" dirty="0"/>
          </a:p>
        </p:txBody>
      </p:sp>
      <p:sp>
        <p:nvSpPr>
          <p:cNvPr id="90" name="Text 88"/>
          <p:cNvSpPr/>
          <p:nvPr/>
        </p:nvSpPr>
        <p:spPr>
          <a:xfrm>
            <a:off x="8961120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 per tick (fitted slope)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8961120" y="402336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50-tick synthetic run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agents · 150 posts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decisions · 7.7 min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8961120" y="5120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recommender, inconsistent LLM agents: flat ~42%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ACCURACY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tree vs the hidden ground truth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87.6%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average boundary-recovery accuracy across 6 agents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035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TheEconomist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trivial — GT liked everything it was shown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TheInnovator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— constant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ThePsychologist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boundary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ThePolicyMaker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boundary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TheEngineer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good; leaves fully readable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TheEnvironmentalist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to a biased sample → slide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2148840"/>
            <a:ext cx="4709160" cy="3977640"/>
          </a:xfrm>
          <a:prstGeom prst="roundRect">
            <a:avLst>
              <a:gd name="adj" fmla="val 1839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69480" y="2359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leaves — TheEngineer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69480" y="2834640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2360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Accessibility &amp; AI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52360" y="3246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engage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 = 0.00 · n = 21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69480" y="3767328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Energy Hubs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52360" y="41788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engage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 = 0.00 · n = 20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69480" y="4700016"/>
            <a:ext cx="4069080" cy="804672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4773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&amp; Energy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52360" y="51114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engage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 = 0.92 · n = 3 — flagged low-confidence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269480" y="5669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names generated post-hoc from member posts — the model stays human-readable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LEDGER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right — and what went wrong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0195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decreasing curve: skip 40% → 17% within one run.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is measurable — 87.6% avg accuracy vs ground truth.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topics are readable, pure, and quantified (H, n).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baseline contrast: priority rots to 100%, random to 67%.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no longer stall — 90-second timeouts on every LLM call.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901952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901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24688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v1 optimized the wrong signal (action type) — flat curve, two wasted runs.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LLM-agent inconsistency capped v2 at ~42% no matter what.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 silently wedged at tick 1 for 10+ minutes before timeouts existed.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Gemini thinking-budget bug (truncated JSON) struck three separate times — once yielding a degenerate 1-post run with a meaningless 100% accuracy.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tradeoffs — stated plainly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109960" cy="2148840"/>
          </a:xfrm>
          <a:prstGeom prst="roundRect">
            <a:avLst>
              <a:gd name="adj" fmla="val 3404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47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bias, measured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 trains only on posts the recommender chose to show — and it increasingly shows predicted-likes. The loop partly grades its own homework. More forced exploration trades this off against a higher skip floor.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35240" y="25420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29800" y="19659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601200" y="25420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ground truth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(TheEnvironmentalist)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418320" y="224028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40690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1788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shifts on retrain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4672" y="45262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labels and boundaries move every 5 ticks — harder to read longitudinally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40690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41788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≠ human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73952" y="45262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but less naturalistic; must re-validate on LLM-judgment agents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367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Single-run evidence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4672" y="57150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3–5 runs per condition for publication figures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52578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53675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73952" y="571500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events per agent before the tree activates; falls back to cosine fit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diagnosis to a measurable, learning recommender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591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are topic-fit, not action type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08960" y="324612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3591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61188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fit: fast gain, hard plateau at ~42%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324612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3591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4652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ground-truth agents — consistent, measurable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78240" y="3246120"/>
            <a:ext cx="2286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52560" y="21031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111C30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81160" y="235915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28116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40% → 17% skip, 87.6% accuracy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recommender now demonstrably learns its users 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 can measure exactly how well.”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2026-07-29T02:47:16Z</dcterms:created>
  <dcterms:modified xsi:type="dcterms:W3CDTF">2026-07-29T02:47:16Z</dcterms:modified>
</cp:coreProperties>
</file>